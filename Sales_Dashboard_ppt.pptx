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25adf72-5619-0cbe-c44e-a7176b5db594}">
          <p14:sldIdLst>
            <p14:sldId id="256"/>
            <p14:sldId id="257"/>
          </p14:sldIdLst>
        </p14:section>
        <p14:section name="Charts" id="{f4bcfec9-c73b-3327-ff0e-88557dbe40e8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Wrap-up" id="{d081b52b-1a4f-775b-b9de-87e9f2aba5a7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(M)</c:v>
                </c:pt>
              </c:strCache>
            </c:strRef>
          </c:tx>
          <c:spPr>
            <a:solidFill>
              <a:srgbClr val="D4A6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Vadodara</c:v>
                  </c:pt>
                  <c:pt idx="1">
                    <c:v>Agra</c:v>
                  </c:pt>
                  <c:pt idx="2">
                    <c:v>Surat</c:v>
                  </c:pt>
                  <c:pt idx="3">
                    <c:v>Chennai</c:v>
                  </c:pt>
                  <c:pt idx="4">
                    <c:v>Dwarka</c:v>
                  </c:pt>
                  <c:pt idx="5">
                    <c:v>Amritsar</c:v>
                  </c:pt>
                  <c:pt idx="6">
                    <c:v>Varanasi</c:v>
                  </c:pt>
                  <c:pt idx="7">
                    <c:v>Thane</c:v>
                  </c:pt>
                  <c:pt idx="8">
                    <c:v>Kanpur</c:v>
                  </c:pt>
                  <c:pt idx="9">
                    <c:v>Howrah</c:v>
                  </c:pt>
                  <c:pt idx="10">
                    <c:v>New Delhi</c:v>
                  </c:pt>
                  <c:pt idx="11">
                    <c:v>Madurai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155.72</c:v>
                </c:pt>
                <c:pt idx="1">
                  <c:v>156.12</c:v>
                </c:pt>
                <c:pt idx="2">
                  <c:v>156.59</c:v>
                </c:pt>
                <c:pt idx="3">
                  <c:v>156.63</c:v>
                </c:pt>
                <c:pt idx="4">
                  <c:v>156.63</c:v>
                </c:pt>
                <c:pt idx="5">
                  <c:v>156.75</c:v>
                </c:pt>
                <c:pt idx="6">
                  <c:v>156.81</c:v>
                </c:pt>
                <c:pt idx="7">
                  <c:v>157.67</c:v>
                </c:pt>
                <c:pt idx="8">
                  <c:v>158.48</c:v>
                </c:pt>
                <c:pt idx="9">
                  <c:v>159.7</c:v>
                </c:pt>
                <c:pt idx="10">
                  <c:v>166.8</c:v>
                </c:pt>
                <c:pt idx="11">
                  <c:v>166.91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35B"/>
              </a:solidFill>
              <a:ln w="12700" cap="flat">
                <a:solidFill>
                  <a:srgbClr val="16275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E8DF0"/>
              </a:solidFill>
              <a:ln w="12700" cap="flat">
                <a:solidFill>
                  <a:srgbClr val="16275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523F"/>
              </a:solidFill>
              <a:ln w="12700" cap="flat">
                <a:solidFill>
                  <a:srgbClr val="16275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8788A"/>
              </a:solidFill>
              <a:ln w="12700" cap="flat">
                <a:solidFill>
                  <a:srgbClr val="16275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UPI (3,176M)</c:v>
                </c:pt>
                <c:pt idx="1">
                  <c:v>COD (1,842M)</c:v>
                </c:pt>
                <c:pt idx="2">
                  <c:v>Debit Card (632M)</c:v>
                </c:pt>
                <c:pt idx="3">
                  <c:v>Credit Card (281M)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3176.42</c:v>
                </c:pt>
                <c:pt idx="1">
                  <c:v>1841.91</c:v>
                </c:pt>
                <c:pt idx="2">
                  <c:v>631.71</c:v>
                </c:pt>
                <c:pt idx="3">
                  <c:v>280.66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3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(bn)</c:v>
                </c:pt>
              </c:strCache>
            </c:strRef>
          </c:tx>
          <c:spPr>
            <a:solidFill>
              <a:srgbClr val="D4A64A"/>
            </a:solidFill>
            <a:ln w="38100" cap="flat">
              <a:solidFill>
                <a:srgbClr val="D4A64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D4A64A"/>
              </a:solidFill>
              <a:ln w="9525" cap="flat">
                <a:solidFill>
                  <a:srgbClr val="D4A6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1.668</c:v>
                </c:pt>
                <c:pt idx="1">
                  <c:v>2.85</c:v>
                </c:pt>
                <c:pt idx="2">
                  <c:v>1.413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6350" cap="flat">
              <a:solidFill>
                <a:srgbClr val="2A3B6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C9D3EA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C9D3EA"/>
                    </a:solidFill>
                    <a:latin typeface="+mn-lt"/>
                  </a:rPr>
                  <a:t>Sales (bn)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2FA3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3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52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8D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52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DF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Delivered</c:v>
                  </c:pt>
                  <c:pt idx="1">
                    <c:v>Cancelled</c:v>
                  </c:pt>
                  <c:pt idx="2">
                    <c:v>Processing</c:v>
                  </c:pt>
                  <c:pt idx="3">
                    <c:v>Returned</c:v>
                  </c:pt>
                  <c:pt idx="4">
                    <c:v>Shipped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249834</c:v>
                </c:pt>
                <c:pt idx="1">
                  <c:v>15789</c:v>
                </c:pt>
                <c:pt idx="2">
                  <c:v>15607</c:v>
                </c:pt>
                <c:pt idx="3">
                  <c:v>15602</c:v>
                </c:pt>
                <c:pt idx="4">
                  <c:v>15563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D3E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deck walks through every visual on the E-Commerce Sales Analytics dashboard, explaining the purpose of each chart type and the insights it gives.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has four KPI cards, four charts and three filters. We take them in that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cards give a one-glance summary. Shipping cost is a very small share of order value, so logistics is not squeezing margins. 250K is a rounded figure, so the implied average differs slightly from 23.97K.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start at zero, so the near-identical bar lengths are the real story: no single city dominates. The dashboard scrolls to show more cities. Top 12 total is about 1,905M, roughly 32% of 5,930.69M.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 charts work here because there are only four parts that add up to 100% of revenue (5,930.7M). UPI plus other digital methods account for about 69% of revenue; COD is the large offline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 starts at zero so the change is not exaggerated. 2024 to 2025 growth is 70.9%; 2025 to 2026 is -50.4%. The date is October 2026, so the 2026 total may be partial. Compare like-for-like periods before drawing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units across statuses is about 312K. Delivered is 80.0%; cancelled plus returned is 10.0%; processing plus shipped is 10.0%. Check whether revenue includes cancelled and returned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Slicers make the dashboard interactive. Every filter starts on All. Combining filters answers questions like how did one state perform in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five findings and five actions. The two data-quality checks (2026 coverage and whether revenue includes cancelled/returned orders) should be resolved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486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E-Commerce Sales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E-Commerce Sales Analytics Dashboard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chart-by-chart guide: why each visual is used and what it reveals</a:t>
            </a:r>
            <a:endParaRPr lang="en-US" sz="1800" dirty="0"/>
          </a:p>
        </p:txBody>
      </p:sp>
      <p:sp>
        <p:nvSpPr>
          <p:cNvPr id="4" name="Ring"/>
          <p:cNvSpPr/>
          <p:nvPr/>
        </p:nvSpPr>
        <p:spPr>
          <a:xfrm>
            <a:off x="6400800" y="1371600"/>
            <a:ext cx="2377440" cy="23774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Gold disc"/>
          <p:cNvSpPr/>
          <p:nvPr/>
        </p:nvSpPr>
        <p:spPr>
          <a:xfrm>
            <a:off x="6812280" y="178308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194560"/>
            <a:ext cx="731520" cy="731520"/>
          </a:xfrm>
          <a:prstGeom prst="rect">
            <a:avLst/>
          </a:prstGeom>
        </p:spPr>
      </p:pic>
      <p:sp>
        <p:nvSpPr>
          <p:cNvPr id="7" name="Tagline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INSIGHTS   |   TRENDS   |   GROWTH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Dashboard at a glance</a:t>
            </a:r>
            <a:endParaRPr lang="en-US" sz="3000" dirty="0"/>
          </a:p>
        </p:txBody>
      </p:sp>
      <p:pic>
        <p:nvPicPr>
          <p:cNvPr id="3" name="Image 0" descr="Screenshot of the E-Commerce Sales Analytics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937760" cy="2752344"/>
          </a:xfrm>
          <a:prstGeom prst="rect">
            <a:avLst/>
          </a:prstGeom>
        </p:spPr>
      </p:pic>
      <p:sp>
        <p:nvSpPr>
          <p:cNvPr id="4" name="Number 1"/>
          <p:cNvSpPr txBox="1"/>
          <p:nvPr/>
        </p:nvSpPr>
        <p:spPr>
          <a:xfrm>
            <a:off x="5669280" y="12252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Item 1"/>
          <p:cNvSpPr txBox="1"/>
          <p:nvPr/>
        </p:nvSpPr>
        <p:spPr>
          <a:xfrm>
            <a:off x="6126480" y="1188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KPI cards: headline numbers</a:t>
            </a:r>
            <a:endParaRPr lang="en-US" sz="1400" dirty="0"/>
          </a:p>
        </p:txBody>
      </p:sp>
      <p:sp>
        <p:nvSpPr>
          <p:cNvPr id="6" name="Number 2"/>
          <p:cNvSpPr txBox="1"/>
          <p:nvPr/>
        </p:nvSpPr>
        <p:spPr>
          <a:xfrm>
            <a:off x="5669280" y="16824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Item 2"/>
          <p:cNvSpPr txBox="1"/>
          <p:nvPr/>
        </p:nvSpPr>
        <p:spPr>
          <a:xfrm>
            <a:off x="6126480" y="16459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Sales by city</a:t>
            </a:r>
            <a:endParaRPr lang="en-US" sz="1400" dirty="0"/>
          </a:p>
        </p:txBody>
      </p:sp>
      <p:sp>
        <p:nvSpPr>
          <p:cNvPr id="8" name="Number 3"/>
          <p:cNvSpPr txBox="1"/>
          <p:nvPr/>
        </p:nvSpPr>
        <p:spPr>
          <a:xfrm>
            <a:off x="5669280" y="21396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Item 3"/>
          <p:cNvSpPr txBox="1"/>
          <p:nvPr/>
        </p:nvSpPr>
        <p:spPr>
          <a:xfrm>
            <a:off x="6126480" y="21031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Payment Done by method</a:t>
            </a:r>
            <a:endParaRPr lang="en-US" sz="1400" dirty="0"/>
          </a:p>
        </p:txBody>
      </p:sp>
      <p:sp>
        <p:nvSpPr>
          <p:cNvPr id="10" name="Number 4"/>
          <p:cNvSpPr txBox="1"/>
          <p:nvPr/>
        </p:nvSpPr>
        <p:spPr>
          <a:xfrm>
            <a:off x="5669280" y="25968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Item 4"/>
          <p:cNvSpPr txBox="1"/>
          <p:nvPr/>
        </p:nvSpPr>
        <p:spPr>
          <a:xfrm>
            <a:off x="6126480" y="2560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Sales by Year trend</a:t>
            </a:r>
            <a:endParaRPr lang="en-US" sz="1400" dirty="0"/>
          </a:p>
        </p:txBody>
      </p:sp>
      <p:sp>
        <p:nvSpPr>
          <p:cNvPr id="12" name="Number 5"/>
          <p:cNvSpPr txBox="1"/>
          <p:nvPr/>
        </p:nvSpPr>
        <p:spPr>
          <a:xfrm>
            <a:off x="5669280" y="30540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3" name="Item 5"/>
          <p:cNvSpPr txBox="1"/>
          <p:nvPr/>
        </p:nvSpPr>
        <p:spPr>
          <a:xfrm>
            <a:off x="6126480" y="30175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Total Quantity by status</a:t>
            </a:r>
            <a:endParaRPr lang="en-US" sz="1400" dirty="0"/>
          </a:p>
        </p:txBody>
      </p:sp>
      <p:sp>
        <p:nvSpPr>
          <p:cNvPr id="14" name="Number 6"/>
          <p:cNvSpPr txBox="1"/>
          <p:nvPr/>
        </p:nvSpPr>
        <p:spPr>
          <a:xfrm>
            <a:off x="5669280" y="35112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15" name="Item 6"/>
          <p:cNvSpPr txBox="1"/>
          <p:nvPr/>
        </p:nvSpPr>
        <p:spPr>
          <a:xfrm>
            <a:off x="6126480" y="3474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State, Year, City filters</a:t>
            </a:r>
            <a:endParaRPr lang="en-US" sz="1400" dirty="0"/>
          </a:p>
        </p:txBody>
      </p:sp>
      <p:sp>
        <p:nvSpPr>
          <p:cNvPr id="16" name="Intro caption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Each slide that follows explains one visual: why that chart type is used and what the data says.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KPI cards: the health check</a:t>
            </a:r>
            <a:endParaRPr lang="en-US" sz="3000" dirty="0"/>
          </a:p>
        </p:txBody>
      </p:sp>
      <p:sp>
        <p:nvSpPr>
          <p:cNvPr id="3" name="KPI card 1"/>
          <p:cNvSpPr/>
          <p:nvPr/>
        </p:nvSpPr>
        <p:spPr>
          <a:xfrm>
            <a:off x="457200" y="114300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4" name="KPI icon disc 1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Total Ord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08176"/>
            <a:ext cx="246888" cy="246888"/>
          </a:xfrm>
          <a:prstGeom prst="rect">
            <a:avLst/>
          </a:prstGeom>
        </p:spPr>
      </p:pic>
      <p:sp>
        <p:nvSpPr>
          <p:cNvPr id="6" name="KPI value 1"/>
          <p:cNvSpPr txBox="1"/>
          <p:nvPr/>
        </p:nvSpPr>
        <p:spPr>
          <a:xfrm>
            <a:off x="640080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250K</a:t>
            </a:r>
            <a:endParaRPr lang="en-US" sz="2400" dirty="0"/>
          </a:p>
        </p:txBody>
      </p:sp>
      <p:sp>
        <p:nvSpPr>
          <p:cNvPr id="7" name="KPI label 1"/>
          <p:cNvSpPr txBox="1"/>
          <p:nvPr/>
        </p:nvSpPr>
        <p:spPr>
          <a:xfrm>
            <a:off x="6400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 Orders</a:t>
            </a:r>
            <a:endParaRPr lang="en-US" sz="1400" dirty="0"/>
          </a:p>
        </p:txBody>
      </p:sp>
      <p:sp>
        <p:nvSpPr>
          <p:cNvPr id="8" name="KPI card 2"/>
          <p:cNvSpPr/>
          <p:nvPr/>
        </p:nvSpPr>
        <p:spPr>
          <a:xfrm>
            <a:off x="2578608" y="114300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9" name="KPI icon disc 2"/>
          <p:cNvSpPr/>
          <p:nvPr/>
        </p:nvSpPr>
        <p:spPr>
          <a:xfrm>
            <a:off x="2761488" y="12801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Total Revenu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1408176"/>
            <a:ext cx="246888" cy="246888"/>
          </a:xfrm>
          <a:prstGeom prst="rect">
            <a:avLst/>
          </a:prstGeom>
        </p:spPr>
      </p:pic>
      <p:sp>
        <p:nvSpPr>
          <p:cNvPr id="11" name="KPI value 2"/>
          <p:cNvSpPr txBox="1"/>
          <p:nvPr/>
        </p:nvSpPr>
        <p:spPr>
          <a:xfrm>
            <a:off x="2761488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5,930.69M</a:t>
            </a:r>
            <a:endParaRPr lang="en-US" sz="2400" dirty="0"/>
          </a:p>
        </p:txBody>
      </p:sp>
      <p:sp>
        <p:nvSpPr>
          <p:cNvPr id="12" name="KPI label 2"/>
          <p:cNvSpPr txBox="1"/>
          <p:nvPr/>
        </p:nvSpPr>
        <p:spPr>
          <a:xfrm>
            <a:off x="2761488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13" name="KPI card 3"/>
          <p:cNvSpPr/>
          <p:nvPr/>
        </p:nvSpPr>
        <p:spPr>
          <a:xfrm>
            <a:off x="4700016" y="114300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14" name="KPI icon disc 3"/>
          <p:cNvSpPr/>
          <p:nvPr/>
        </p:nvSpPr>
        <p:spPr>
          <a:xfrm>
            <a:off x="4882896" y="12801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Avg Shipping Co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408176"/>
            <a:ext cx="246888" cy="246888"/>
          </a:xfrm>
          <a:prstGeom prst="rect">
            <a:avLst/>
          </a:prstGeom>
        </p:spPr>
      </p:pic>
      <p:sp>
        <p:nvSpPr>
          <p:cNvPr id="16" name="KPI value 3"/>
          <p:cNvSpPr txBox="1"/>
          <p:nvPr/>
        </p:nvSpPr>
        <p:spPr>
          <a:xfrm>
            <a:off x="4882896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4.91</a:t>
            </a:r>
            <a:endParaRPr lang="en-US" sz="2400" dirty="0"/>
          </a:p>
        </p:txBody>
      </p:sp>
      <p:sp>
        <p:nvSpPr>
          <p:cNvPr id="17" name="KPI label 3"/>
          <p:cNvSpPr txBox="1"/>
          <p:nvPr/>
        </p:nvSpPr>
        <p:spPr>
          <a:xfrm>
            <a:off x="4882896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Avg Shipping Cost</a:t>
            </a:r>
            <a:endParaRPr lang="en-US" sz="1400" dirty="0"/>
          </a:p>
        </p:txBody>
      </p:sp>
      <p:sp>
        <p:nvSpPr>
          <p:cNvPr id="18" name="KPI card 4"/>
          <p:cNvSpPr/>
          <p:nvPr/>
        </p:nvSpPr>
        <p:spPr>
          <a:xfrm>
            <a:off x="6821424" y="1143000"/>
            <a:ext cx="187452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19" name="KPI icon disc 4"/>
          <p:cNvSpPr/>
          <p:nvPr/>
        </p:nvSpPr>
        <p:spPr>
          <a:xfrm>
            <a:off x="7004304" y="128016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3" descr="Avg Order Valu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408176"/>
            <a:ext cx="246888" cy="246888"/>
          </a:xfrm>
          <a:prstGeom prst="rect">
            <a:avLst/>
          </a:prstGeom>
        </p:spPr>
      </p:pic>
      <p:sp>
        <p:nvSpPr>
          <p:cNvPr id="21" name="KPI value 4"/>
          <p:cNvSpPr txBox="1"/>
          <p:nvPr/>
        </p:nvSpPr>
        <p:spPr>
          <a:xfrm>
            <a:off x="7004304" y="18105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23.97K</a:t>
            </a:r>
            <a:endParaRPr lang="en-US" sz="2400" dirty="0"/>
          </a:p>
        </p:txBody>
      </p:sp>
      <p:sp>
        <p:nvSpPr>
          <p:cNvPr id="22" name="KPI label 4"/>
          <p:cNvSpPr txBox="1"/>
          <p:nvPr/>
        </p:nvSpPr>
        <p:spPr>
          <a:xfrm>
            <a:off x="7004304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Avg Order Value</a:t>
            </a:r>
            <a:endParaRPr lang="en-US" sz="1400" dirty="0"/>
          </a:p>
        </p:txBody>
      </p:sp>
      <p:sp>
        <p:nvSpPr>
          <p:cNvPr id="23" name="Purpose card"/>
          <p:cNvSpPr/>
          <p:nvPr/>
        </p:nvSpPr>
        <p:spPr>
          <a:xfrm>
            <a:off x="457200" y="292608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24" name="Label WHY KPI CARDS"/>
          <p:cNvSpPr txBox="1"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WHY KPI CARDS</a:t>
            </a:r>
            <a:endParaRPr lang="en-US" sz="1100" dirty="0"/>
          </a:p>
        </p:txBody>
      </p:sp>
      <p:sp>
        <p:nvSpPr>
          <p:cNvPr id="25" name="Body text"/>
          <p:cNvSpPr txBox="1"/>
          <p:nvPr/>
        </p:nvSpPr>
        <p:spPr>
          <a:xfrm>
            <a:off x="64008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Headline numbers answer "how are we doing?" in seconds, and they update as filters are applied.</a:t>
            </a:r>
            <a:endParaRPr lang="en-US" sz="1400" dirty="0"/>
          </a:p>
        </p:txBody>
      </p:sp>
      <p:sp>
        <p:nvSpPr>
          <p:cNvPr id="26" name="Insights card"/>
          <p:cNvSpPr/>
          <p:nvPr/>
        </p:nvSpPr>
        <p:spPr>
          <a:xfrm>
            <a:off x="4663440" y="2926080"/>
            <a:ext cx="402336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27" name="Label WHAT IT TELLS US"/>
          <p:cNvSpPr txBox="1"/>
          <p:nvPr/>
        </p:nvSpPr>
        <p:spPr>
          <a:xfrm>
            <a:off x="484632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IT TELLS US</a:t>
            </a:r>
            <a:endParaRPr lang="en-US" sz="1100" dirty="0"/>
          </a:p>
        </p:txBody>
      </p:sp>
      <p:sp>
        <p:nvSpPr>
          <p:cNvPr id="28" name="Insight bullets"/>
          <p:cNvSpPr txBox="1"/>
          <p:nvPr/>
        </p:nvSpPr>
        <p:spPr>
          <a:xfrm>
            <a:off x="4846320" y="33375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250K orders generated 5,930.69M in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Shipping (4.91) is tiny next to order value (23.97K)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Check: 5,930.69M ÷ 250K ≈ 23.7K, close to 23.97K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Total Sales by city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urpose card"/>
          <p:cNvSpPr/>
          <p:nvPr/>
        </p:nvSpPr>
        <p:spPr>
          <a:xfrm>
            <a:off x="4892040" y="1143000"/>
            <a:ext cx="3794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6" name="Label WHY THIS CHART"/>
          <p:cNvSpPr txBox="1"/>
          <p:nvPr/>
        </p:nvSpPr>
        <p:spPr>
          <a:xfrm>
            <a:off x="50749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WHY THIS CHART</a:t>
            </a:r>
            <a:endParaRPr lang="en-US" sz="1100" dirty="0"/>
          </a:p>
        </p:txBody>
      </p:sp>
      <p:sp>
        <p:nvSpPr>
          <p:cNvPr id="7" name="Body text"/>
          <p:cNvSpPr txBox="1"/>
          <p:nvPr/>
        </p:nvSpPr>
        <p:spPr>
          <a:xfrm>
            <a:off x="507492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ranked bar chart compares revenue across cities and shows which markets lead.</a:t>
            </a:r>
            <a:endParaRPr lang="en-US" sz="1400" dirty="0"/>
          </a:p>
        </p:txBody>
      </p:sp>
      <p:sp>
        <p:nvSpPr>
          <p:cNvPr id="8" name="Insights card"/>
          <p:cNvSpPr/>
          <p:nvPr/>
        </p:nvSpPr>
        <p:spPr>
          <a:xfrm>
            <a:off x="4892040" y="2514600"/>
            <a:ext cx="37947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9" name="Label WHAT IT TELLS US"/>
          <p:cNvSpPr txBox="1"/>
          <p:nvPr/>
        </p:nvSpPr>
        <p:spPr>
          <a:xfrm>
            <a:off x="507492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IT TELLS US</a:t>
            </a:r>
            <a:endParaRPr lang="en-US" sz="1100" dirty="0"/>
          </a:p>
        </p:txBody>
      </p:sp>
      <p:sp>
        <p:nvSpPr>
          <p:cNvPr id="10" name="Insight bullets"/>
          <p:cNvSpPr txBox="1"/>
          <p:nvPr/>
        </p:nvSpPr>
        <p:spPr>
          <a:xfrm>
            <a:off x="5074920" y="2926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Madurai (166.9M) and New Delhi (166.8M) lead the ranking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top 12 cities sit within 7% of each other: sales are evenly spread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These 12 bring in about 32% of revenue; the long tail holds the rest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Payment Done: how customers pay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urpose card"/>
          <p:cNvSpPr/>
          <p:nvPr/>
        </p:nvSpPr>
        <p:spPr>
          <a:xfrm>
            <a:off x="4892040" y="1143000"/>
            <a:ext cx="3794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6" name="Label WHY THIS CHART"/>
          <p:cNvSpPr txBox="1"/>
          <p:nvPr/>
        </p:nvSpPr>
        <p:spPr>
          <a:xfrm>
            <a:off x="50749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WHY THIS CHART</a:t>
            </a:r>
            <a:endParaRPr lang="en-US" sz="1100" dirty="0"/>
          </a:p>
        </p:txBody>
      </p:sp>
      <p:sp>
        <p:nvSpPr>
          <p:cNvPr id="7" name="Body text"/>
          <p:cNvSpPr txBox="1"/>
          <p:nvPr/>
        </p:nvSpPr>
        <p:spPr>
          <a:xfrm>
            <a:off x="507492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pie shows each payment method's share of the whole.</a:t>
            </a:r>
            <a:endParaRPr lang="en-US" sz="1400" dirty="0"/>
          </a:p>
        </p:txBody>
      </p:sp>
      <p:sp>
        <p:nvSpPr>
          <p:cNvPr id="8" name="Insights card"/>
          <p:cNvSpPr/>
          <p:nvPr/>
        </p:nvSpPr>
        <p:spPr>
          <a:xfrm>
            <a:off x="4892040" y="2514600"/>
            <a:ext cx="37947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9" name="Label WHAT IT TELLS US"/>
          <p:cNvSpPr txBox="1"/>
          <p:nvPr/>
        </p:nvSpPr>
        <p:spPr>
          <a:xfrm>
            <a:off x="507492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IT TELLS US</a:t>
            </a:r>
            <a:endParaRPr lang="en-US" sz="1100" dirty="0"/>
          </a:p>
        </p:txBody>
      </p:sp>
      <p:sp>
        <p:nvSpPr>
          <p:cNvPr id="10" name="Insight bullets"/>
          <p:cNvSpPr txBox="1"/>
          <p:nvPr/>
        </p:nvSpPr>
        <p:spPr>
          <a:xfrm>
            <a:off x="5074920" y="2926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UPI leads with 53.6% of revenue (3,176M)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Cash on Delivery is a large 31.1%, a cost and return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Debit and credit cards together are only 15.4%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Sales by Year: the growth trend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urpose card"/>
          <p:cNvSpPr/>
          <p:nvPr/>
        </p:nvSpPr>
        <p:spPr>
          <a:xfrm>
            <a:off x="4892040" y="1143000"/>
            <a:ext cx="3794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6" name="Label WHY THIS CHART"/>
          <p:cNvSpPr txBox="1"/>
          <p:nvPr/>
        </p:nvSpPr>
        <p:spPr>
          <a:xfrm>
            <a:off x="50749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WHY THIS CHART</a:t>
            </a:r>
            <a:endParaRPr lang="en-US" sz="1100" dirty="0"/>
          </a:p>
        </p:txBody>
      </p:sp>
      <p:sp>
        <p:nvSpPr>
          <p:cNvPr id="7" name="Body text"/>
          <p:cNvSpPr txBox="1"/>
          <p:nvPr/>
        </p:nvSpPr>
        <p:spPr>
          <a:xfrm>
            <a:off x="507492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line chart reveals the direction and pace of sales over time.</a:t>
            </a:r>
            <a:endParaRPr lang="en-US" sz="1400" dirty="0"/>
          </a:p>
        </p:txBody>
      </p:sp>
      <p:sp>
        <p:nvSpPr>
          <p:cNvPr id="8" name="Insights card"/>
          <p:cNvSpPr/>
          <p:nvPr/>
        </p:nvSpPr>
        <p:spPr>
          <a:xfrm>
            <a:off x="4892040" y="2514600"/>
            <a:ext cx="37947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9" name="Label WHAT IT TELLS US"/>
          <p:cNvSpPr txBox="1"/>
          <p:nvPr/>
        </p:nvSpPr>
        <p:spPr>
          <a:xfrm>
            <a:off x="507492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IT TELLS US</a:t>
            </a:r>
            <a:endParaRPr lang="en-US" sz="1100" dirty="0"/>
          </a:p>
        </p:txBody>
      </p:sp>
      <p:sp>
        <p:nvSpPr>
          <p:cNvPr id="10" name="Insight bullets"/>
          <p:cNvSpPr txBox="1"/>
          <p:nvPr/>
        </p:nvSpPr>
        <p:spPr>
          <a:xfrm>
            <a:off x="5074920" y="2926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2025 peaked at 2.85bn, up 71% from 1.67bn in 2024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2026 shows 1.41bn, about half of 2025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Verify 2026 covers a full year before calling it a decline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Total Quantity by order status</a:t>
            </a:r>
            <a:endParaRPr lang="en-US" sz="3000" dirty="0"/>
          </a:p>
        </p:txBody>
      </p:sp>
      <p:sp>
        <p:nvSpPr>
          <p:cNvPr id="3" name="Chart card"/>
          <p:cNvSpPr/>
          <p:nvPr/>
        </p:nvSpPr>
        <p:spPr>
          <a:xfrm>
            <a:off x="457200" y="1143000"/>
            <a:ext cx="420624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4023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caption"/>
          <p:cNvSpPr txBox="1"/>
          <p:nvPr/>
        </p:nvSpPr>
        <p:spPr>
          <a:xfrm>
            <a:off x="64008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Green = fulfilled  ·  Red = lost  ·  Blue = in progress</a:t>
            </a:r>
            <a:endParaRPr lang="en-US" sz="1100" dirty="0"/>
          </a:p>
        </p:txBody>
      </p:sp>
      <p:sp>
        <p:nvSpPr>
          <p:cNvPr id="6" name="Purpose card"/>
          <p:cNvSpPr/>
          <p:nvPr/>
        </p:nvSpPr>
        <p:spPr>
          <a:xfrm>
            <a:off x="4892040" y="1143000"/>
            <a:ext cx="379476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7" name="Label WHY THIS CHART"/>
          <p:cNvSpPr txBox="1"/>
          <p:nvPr/>
        </p:nvSpPr>
        <p:spPr>
          <a:xfrm>
            <a:off x="50749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WHY THIS CHART</a:t>
            </a:r>
            <a:endParaRPr lang="en-US" sz="1100" dirty="0"/>
          </a:p>
        </p:txBody>
      </p:sp>
      <p:sp>
        <p:nvSpPr>
          <p:cNvPr id="8" name="Body text"/>
          <p:cNvSpPr txBox="1"/>
          <p:nvPr/>
        </p:nvSpPr>
        <p:spPr>
          <a:xfrm>
            <a:off x="5074920" y="15544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column chart splits units by status to show how healthy fulfilment is.</a:t>
            </a:r>
            <a:endParaRPr lang="en-US" sz="1400" dirty="0"/>
          </a:p>
        </p:txBody>
      </p:sp>
      <p:sp>
        <p:nvSpPr>
          <p:cNvPr id="9" name="Insights card"/>
          <p:cNvSpPr/>
          <p:nvPr/>
        </p:nvSpPr>
        <p:spPr>
          <a:xfrm>
            <a:off x="4892040" y="2514600"/>
            <a:ext cx="3794760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0" name="Label WHAT IT TELLS US"/>
          <p:cNvSpPr txBox="1"/>
          <p:nvPr/>
        </p:nvSpPr>
        <p:spPr>
          <a:xfrm>
            <a:off x="507492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IT TELLS US</a:t>
            </a:r>
            <a:endParaRPr lang="en-US" sz="1100" dirty="0"/>
          </a:p>
        </p:txBody>
      </p:sp>
      <p:sp>
        <p:nvSpPr>
          <p:cNvPr id="11" name="Insight bullets"/>
          <p:cNvSpPr txBox="1"/>
          <p:nvPr/>
        </p:nvSpPr>
        <p:spPr>
          <a:xfrm>
            <a:off x="5074920" y="29260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Delivered: 249,834 units, 80% of the total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Cancelled + Returned is about 31K units (10%): a leakage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Processing and Shipped are even at ~15.6K each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Filters: State, Year, City</a:t>
            </a:r>
            <a:endParaRPr lang="en-US" sz="3000" dirty="0"/>
          </a:p>
        </p:txBody>
      </p:sp>
      <p:sp>
        <p:nvSpPr>
          <p:cNvPr id="3" name="Filter card 1"/>
          <p:cNvSpPr/>
          <p:nvPr/>
        </p:nvSpPr>
        <p:spPr>
          <a:xfrm>
            <a:off x="457200" y="11430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Filter icon disc 1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Stat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74320" cy="274320"/>
          </a:xfrm>
          <a:prstGeom prst="rect">
            <a:avLst/>
          </a:prstGeom>
        </p:spPr>
      </p:pic>
      <p:sp>
        <p:nvSpPr>
          <p:cNvPr id="6" name="Filter name 1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State</a:t>
            </a:r>
            <a:endParaRPr lang="en-US" sz="2000" dirty="0"/>
          </a:p>
        </p:txBody>
      </p:sp>
      <p:sp>
        <p:nvSpPr>
          <p:cNvPr id="7" name="Body text"/>
          <p:cNvSpPr txBox="1"/>
          <p:nvPr/>
        </p:nvSpPr>
        <p:spPr>
          <a:xfrm>
            <a:off x="640080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Narrow every visual to one state to compare its cities and payment mix.</a:t>
            </a:r>
            <a:endParaRPr lang="en-US" sz="1400" dirty="0"/>
          </a:p>
        </p:txBody>
      </p:sp>
      <p:sp>
        <p:nvSpPr>
          <p:cNvPr id="8" name="Filter card 2"/>
          <p:cNvSpPr/>
          <p:nvPr/>
        </p:nvSpPr>
        <p:spPr>
          <a:xfrm>
            <a:off x="3246120" y="11430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9" name="Filter icon disc 2"/>
          <p:cNvSpPr/>
          <p:nvPr/>
        </p:nvSpPr>
        <p:spPr>
          <a:xfrm>
            <a:off x="3429000" y="12801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Yea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274320" cy="274320"/>
          </a:xfrm>
          <a:prstGeom prst="rect">
            <a:avLst/>
          </a:prstGeom>
        </p:spPr>
      </p:pic>
      <p:sp>
        <p:nvSpPr>
          <p:cNvPr id="11" name="Filter name 2"/>
          <p:cNvSpPr txBox="1"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Year</a:t>
            </a:r>
            <a:endParaRPr lang="en-US" sz="2000" dirty="0"/>
          </a:p>
        </p:txBody>
      </p:sp>
      <p:sp>
        <p:nvSpPr>
          <p:cNvPr id="12" name="Body text"/>
          <p:cNvSpPr txBox="1"/>
          <p:nvPr/>
        </p:nvSpPr>
        <p:spPr>
          <a:xfrm>
            <a:off x="3429000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Switch between 2024, 2025 and 2026 to spot growth and seasonality.</a:t>
            </a:r>
            <a:endParaRPr lang="en-US" sz="1400" dirty="0"/>
          </a:p>
        </p:txBody>
      </p:sp>
      <p:sp>
        <p:nvSpPr>
          <p:cNvPr id="13" name="Filter card 3"/>
          <p:cNvSpPr/>
          <p:nvPr/>
        </p:nvSpPr>
        <p:spPr>
          <a:xfrm>
            <a:off x="6035040" y="1143000"/>
            <a:ext cx="26517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4" name="Filter icon disc 3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Cit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274320" cy="274320"/>
          </a:xfrm>
          <a:prstGeom prst="rect">
            <a:avLst/>
          </a:prstGeom>
        </p:spPr>
      </p:pic>
      <p:sp>
        <p:nvSpPr>
          <p:cNvPr id="16" name="Filter name 3"/>
          <p:cNvSpPr txBox="1"/>
          <p:nvPr/>
        </p:nvSpPr>
        <p:spPr>
          <a:xfrm>
            <a:off x="62179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City</a:t>
            </a:r>
            <a:endParaRPr lang="en-US" sz="2000" dirty="0"/>
          </a:p>
        </p:txBody>
      </p:sp>
      <p:sp>
        <p:nvSpPr>
          <p:cNvPr id="17" name="Body text"/>
          <p:cNvSpPr txBox="1"/>
          <p:nvPr/>
        </p:nvSpPr>
        <p:spPr>
          <a:xfrm>
            <a:off x="6217920" y="23774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Zoom into a single city to see its orders, payments and delivery status.</a:t>
            </a:r>
            <a:endParaRPr lang="en-US" sz="1400" dirty="0"/>
          </a:p>
        </p:txBody>
      </p:sp>
      <p:sp>
        <p:nvSpPr>
          <p:cNvPr id="18" name="How to use card"/>
          <p:cNvSpPr/>
          <p:nvPr/>
        </p:nvSpPr>
        <p:spPr>
          <a:xfrm>
            <a:off x="457200" y="361188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Label HOW TO USE"/>
          <p:cNvSpPr txBox="1"/>
          <p:nvPr/>
        </p:nvSpPr>
        <p:spPr>
          <a:xfrm>
            <a:off x="640080" y="37490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 TO USE</a:t>
            </a:r>
            <a:endParaRPr lang="en-US" sz="1100" dirty="0"/>
          </a:p>
        </p:txBody>
      </p:sp>
      <p:sp>
        <p:nvSpPr>
          <p:cNvPr id="20" name="Body text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Pick a value from a dropdown (each starts at "All"). The KPI cards and charts recalculate together. Combine filters, such as State + Year, for a precise 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Key takeaways and next steps</a:t>
            </a:r>
            <a:endParaRPr lang="en-US" sz="3000" dirty="0"/>
          </a:p>
        </p:txBody>
      </p:sp>
      <p:sp>
        <p:nvSpPr>
          <p:cNvPr id="3" name="Findings card"/>
          <p:cNvSpPr/>
          <p:nvPr/>
        </p:nvSpPr>
        <p:spPr>
          <a:xfrm>
            <a:off x="45720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4" name="Label WHAT THE DATA SAYS"/>
          <p:cNvSpPr txBox="1"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THE DATA SAYS</a:t>
            </a:r>
            <a:endParaRPr lang="en-US" sz="1100" dirty="0"/>
          </a:p>
        </p:txBody>
      </p:sp>
      <p:sp>
        <p:nvSpPr>
          <p:cNvPr id="5" name="Insight bullets"/>
          <p:cNvSpPr txBox="1"/>
          <p:nvPr/>
        </p:nvSpPr>
        <p:spPr>
          <a:xfrm>
            <a:off x="640080" y="16002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5,930.69M revenue from 250K orders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Sales are balanced: top 12 cities within 7%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UPI and COD drive about 85% of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2025 was the peak; 2026 is at half that level (check coverage)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80% of units delivered; 10% cancelled or returned</a:t>
            </a:r>
            <a:endParaRPr lang="en-US" sz="1400" dirty="0"/>
          </a:p>
        </p:txBody>
      </p:sp>
      <p:sp>
        <p:nvSpPr>
          <p:cNvPr id="6" name="Actions card"/>
          <p:cNvSpPr/>
          <p:nvPr/>
        </p:nvSpPr>
        <p:spPr>
          <a:xfrm>
            <a:off x="4663440" y="1143000"/>
            <a:ext cx="4023360" cy="356616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</p:sp>
      <p:sp>
        <p:nvSpPr>
          <p:cNvPr id="7" name="Label WHAT TO DO NEXT"/>
          <p:cNvSpPr txBox="1"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TO DO NEXT</a:t>
            </a:r>
            <a:endParaRPr lang="en-US" sz="1100" dirty="0"/>
          </a:p>
        </p:txBody>
      </p:sp>
      <p:sp>
        <p:nvSpPr>
          <p:cNvPr id="8" name="Insight bullets"/>
          <p:cNvSpPr txBox="1"/>
          <p:nvPr/>
        </p:nvSpPr>
        <p:spPr>
          <a:xfrm>
            <a:off x="4846320" y="16002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Grow UPI and prepaid; add incentives to move COD buyers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Find the causes of cancellations and returns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Confirm 2026 data is complete, then compare like-for-like periods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Study the long tail of cities using the State filter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Track delivery rate and order value as monthly KPIs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3E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Dashboard Navy Gold">
  <a:themeElements>
    <a:clrScheme name="Sales Dashboard Navy Gold">
      <a:dk1>
        <a:srgbClr val="0A1128"/>
      </a:dk1>
      <a:lt1>
        <a:srgbClr val="FFFFFF"/>
      </a:lt1>
      <a:dk2>
        <a:srgbClr val="16275A"/>
      </a:dk2>
      <a:lt2>
        <a:srgbClr val="C9D3EA"/>
      </a:lt2>
      <a:accent1>
        <a:srgbClr val="D4A64A"/>
      </a:accent1>
      <a:accent2>
        <a:srgbClr val="3E8DF0"/>
      </a:accent2>
      <a:accent3>
        <a:srgbClr val="2FA35B"/>
      </a:accent3>
      <a:accent4>
        <a:srgbClr val="C0523F"/>
      </a:accent4>
      <a:accent5>
        <a:srgbClr val="A8788A"/>
      </a:accent5>
      <a:accent6>
        <a:srgbClr val="7C8DB5"/>
      </a:accent6>
      <a:hlink>
        <a:srgbClr val="3E8DF0"/>
      </a:hlink>
      <a:folHlink>
        <a:srgbClr val="A8788A"/>
      </a:folHlink>
    </a:clrScheme>
    <a:fontScheme name="Sales Dashboard Navy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Analytics Dashboard: Chart Guide and Insights</dc:title>
  <dc:subject>PptxGenJS Presentation</dc:subject>
  <dc:creator>PptxGenJS</dc:creator>
  <cp:lastModifiedBy>PptxGenJS</cp:lastModifiedBy>
  <cp:revision>1</cp:revision>
  <dcterms:created xsi:type="dcterms:W3CDTF">2026-10-16T08:13:26Z</dcterms:created>
  <dcterms:modified xsi:type="dcterms:W3CDTF">2026-10-16T08:13:26Z</dcterms:modified>
</cp:coreProperties>
</file>